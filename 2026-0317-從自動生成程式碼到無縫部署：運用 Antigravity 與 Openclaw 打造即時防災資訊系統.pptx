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9"/>
  </p:notesMasterIdLst>
  <p:handoutMasterIdLst>
    <p:handoutMasterId r:id="rId30"/>
  </p:handoutMasterIdLst>
  <p:sldIdLst>
    <p:sldId id="409" r:id="rId2"/>
    <p:sldId id="616" r:id="rId3"/>
    <p:sldId id="617" r:id="rId4"/>
    <p:sldId id="618" r:id="rId5"/>
    <p:sldId id="619" r:id="rId6"/>
    <p:sldId id="620" r:id="rId7"/>
    <p:sldId id="621" r:id="rId8"/>
    <p:sldId id="622" r:id="rId9"/>
    <p:sldId id="615" r:id="rId10"/>
    <p:sldId id="262" r:id="rId11"/>
    <p:sldId id="263" r:id="rId12"/>
    <p:sldId id="257" r:id="rId13"/>
    <p:sldId id="258" r:id="rId14"/>
    <p:sldId id="256" r:id="rId15"/>
    <p:sldId id="259" r:id="rId16"/>
    <p:sldId id="260" r:id="rId17"/>
    <p:sldId id="261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3D"/>
    <a:srgbClr val="FF0000"/>
    <a:srgbClr val="1F497D"/>
    <a:srgbClr val="4A7EBB"/>
    <a:srgbClr val="558ED5"/>
    <a:srgbClr val="FFFFFF"/>
    <a:srgbClr val="0000FF"/>
    <a:srgbClr val="FF66CC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81369" autoAdjust="0"/>
  </p:normalViewPr>
  <p:slideViewPr>
    <p:cSldViewPr>
      <p:cViewPr varScale="1">
        <p:scale>
          <a:sx n="68" d="100"/>
          <a:sy n="68" d="100"/>
        </p:scale>
        <p:origin x="13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2118" y="78"/>
      </p:cViewPr>
      <p:guideLst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5842" y="1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/>
          <a:lstStyle>
            <a:lvl1pPr algn="r">
              <a:defRPr sz="1200"/>
            </a:lvl1pPr>
          </a:lstStyle>
          <a:p>
            <a:fld id="{C22FF150-F991-467A-8F9A-C11072F4E328}" type="datetimeFigureOut">
              <a:rPr lang="zh-TW" altLang="en-US" smtClean="0"/>
              <a:pPr/>
              <a:t>2026/3/16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4" y="9440648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5842" y="9440648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 anchor="b"/>
          <a:lstStyle>
            <a:lvl1pPr algn="r">
              <a:defRPr sz="1200"/>
            </a:lvl1pPr>
          </a:lstStyle>
          <a:p>
            <a:fld id="{593AF832-3F3F-4F17-8DC7-211608A0370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67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42" y="1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/>
          <a:lstStyle>
            <a:lvl1pPr algn="r">
              <a:defRPr sz="1200"/>
            </a:lvl1pPr>
          </a:lstStyle>
          <a:p>
            <a:fld id="{B5B78A91-0B72-4447-B3C0-C97C0F73BDC9}" type="datetimeFigureOut">
              <a:rPr lang="zh-TW" altLang="en-US" smtClean="0"/>
              <a:pPr/>
              <a:t>2026/3/16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3" tIns="45906" rIns="91813" bIns="45906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813" tIns="45906" rIns="91813" bIns="45906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4" y="9440648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42" y="9440648"/>
            <a:ext cx="2949786" cy="496966"/>
          </a:xfrm>
          <a:prstGeom prst="rect">
            <a:avLst/>
          </a:prstGeom>
        </p:spPr>
        <p:txBody>
          <a:bodyPr vert="horz" lIns="91813" tIns="45906" rIns="91813" bIns="45906" rtlCol="0" anchor="b"/>
          <a:lstStyle>
            <a:lvl1pPr algn="r">
              <a:defRPr sz="1200"/>
            </a:lvl1pPr>
          </a:lstStyle>
          <a:p>
            <a:fld id="{9B27967D-FBC6-4B5F-896F-3FDDD7B7A79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91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大家好，歡迎來到今天的演講。我是 </a:t>
            </a:r>
            <a:r>
              <a:rPr lang="en-US" altLang="zh-TW" dirty="0"/>
              <a:t>[</a:t>
            </a:r>
            <a:r>
              <a:rPr lang="zh-TW" altLang="en-US" dirty="0"/>
              <a:t>您的姓名</a:t>
            </a:r>
            <a:r>
              <a:rPr lang="en-US" altLang="zh-TW" dirty="0"/>
              <a:t>]</a:t>
            </a:r>
            <a:r>
              <a:rPr lang="zh-TW" altLang="en-US" dirty="0"/>
              <a:t>。今天我想和大家分享一個非常實用的主題：如何運用最新的 </a:t>
            </a:r>
            <a:r>
              <a:rPr lang="en-US" altLang="zh-TW" dirty="0"/>
              <a:t>AI </a:t>
            </a:r>
            <a:r>
              <a:rPr lang="zh-TW" altLang="en-US" dirty="0"/>
              <a:t>技術，包含 </a:t>
            </a:r>
            <a:r>
              <a:rPr lang="en-US" altLang="zh-TW" dirty="0"/>
              <a:t>Antigravity </a:t>
            </a:r>
            <a:r>
              <a:rPr lang="zh-TW" altLang="en-US" dirty="0"/>
              <a:t>和 </a:t>
            </a:r>
            <a:r>
              <a:rPr lang="en-US" altLang="zh-TW" dirty="0" err="1"/>
              <a:t>Openclaw</a:t>
            </a:r>
            <a:r>
              <a:rPr lang="zh-TW" altLang="en-US" dirty="0"/>
              <a:t>，從零開始、完全自動化地打造一套「即時防災資訊系統」。希望透過今天的分享，能讓大家看到降低開發門檻後，我們能如何高效率地解決真實世界的問題。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7967D-FBC6-4B5F-896F-3FDDD7B7A79B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70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7967D-FBC6-4B5F-896F-3FDDD7B7A79B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9478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7967D-FBC6-4B5F-896F-3FDDD7B7A79B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252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7967D-FBC6-4B5F-896F-3FDDD7B7A79B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903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7967D-FBC6-4B5F-896F-3FDDD7B7A79B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685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7967D-FBC6-4B5F-896F-3FDDD7B7A79B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9995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 algn="l">
              <a:defRPr lang="zh-TW" altLang="en-US" smtClean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5B85FF47-2E3D-4AC3-97D9-1D5D3E5127BA}" type="datetimeFigureOut">
              <a:rPr lang="en-US" altLang="zh-TW" smtClean="0"/>
              <a:pPr/>
              <a:t>3/16/2026</a:t>
            </a:fld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2"/>
          </p:nvPr>
        </p:nvSpPr>
        <p:spPr>
          <a:xfrm>
            <a:off x="1583326" y="28932"/>
            <a:ext cx="9342340" cy="546100"/>
          </a:xfrm>
        </p:spPr>
        <p:txBody>
          <a:bodyPr anchor="ctr" anchorCtr="0"/>
          <a:lstStyle>
            <a:lvl1pPr marL="0" indent="0"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13"/>
          </p:nvPr>
        </p:nvSpPr>
        <p:spPr>
          <a:xfrm>
            <a:off x="1583326" y="584653"/>
            <a:ext cx="9342340" cy="40516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5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9" name="橢圓 8"/>
          <p:cNvSpPr/>
          <p:nvPr userDrawn="1"/>
        </p:nvSpPr>
        <p:spPr>
          <a:xfrm>
            <a:off x="11528688" y="6450620"/>
            <a:ext cx="576999" cy="32741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2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3"/>
          <p:cNvSpPr txBox="1">
            <a:spLocks/>
          </p:cNvSpPr>
          <p:nvPr userDrawn="1"/>
        </p:nvSpPr>
        <p:spPr>
          <a:xfrm>
            <a:off x="11632382" y="6431766"/>
            <a:ext cx="407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lang="zh-TW" alt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C6E9E84-0AFC-45AC-B756-378B93D9B12E}" type="slidenum">
              <a:rPr lang="en-US" altLang="zh-TW" smtClean="0">
                <a:solidFill>
                  <a:schemeClr val="bg2">
                    <a:lumMod val="50000"/>
                  </a:schemeClr>
                </a:solidFill>
              </a:rPr>
              <a:pPr algn="ctr"/>
              <a:t>‹#›</a:t>
            </a:fld>
            <a:endParaRPr lang="en-US" altLang="zh-TW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78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612F15A-BA8D-446F-0D1A-233DC8F2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097D-1E1F-4918-8512-A5844D3B3EC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D06819C-7C75-83C3-F03D-37A92F3D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03368D-0EE4-43B1-E35C-221F59A4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E7407-9898-4DB7-A69C-344612D448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03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A0889-588E-4302-AEAC-826EDBE91A43}" type="datetime1">
              <a:rPr lang="zh-TW" altLang="en-US" smtClean="0"/>
              <a:pPr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1079628" y="6429831"/>
            <a:ext cx="666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996E8-7BC1-44D1-9407-422DEE20CBA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2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8F56FBB-0383-40F2-9B7F-AE2C129C6F85}"/>
              </a:ext>
            </a:extLst>
          </p:cNvPr>
          <p:cNvSpPr txBox="1"/>
          <p:nvPr/>
        </p:nvSpPr>
        <p:spPr>
          <a:xfrm>
            <a:off x="1134985" y="2155977"/>
            <a:ext cx="101072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3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從自動生成程式碼到無縫部署：</a:t>
            </a:r>
            <a:endParaRPr lang="en-US" altLang="zh-TW" sz="32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運用 </a:t>
            </a:r>
            <a:r>
              <a:rPr lang="en-US" altLang="zh-TW" sz="3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Antigravity </a:t>
            </a:r>
            <a:r>
              <a:rPr lang="zh-TW" altLang="en-US" sz="3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 </a:t>
            </a:r>
            <a:r>
              <a:rPr lang="en-US" altLang="zh-TW" sz="3200" b="1" dirty="0" err="1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OpenClaw</a:t>
            </a:r>
            <a:r>
              <a:rPr lang="en-US" altLang="zh-TW" sz="3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打造即時防災資訊系統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29987A-0971-44A3-9606-2F8B29F38E80}"/>
              </a:ext>
            </a:extLst>
          </p:cNvPr>
          <p:cNvSpPr/>
          <p:nvPr/>
        </p:nvSpPr>
        <p:spPr>
          <a:xfrm>
            <a:off x="4346182" y="3955469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報告人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陳達毅  科長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1CAAAE-7AC4-4EA5-8ADA-0018ABCCE8A1}"/>
              </a:ext>
            </a:extLst>
          </p:cNvPr>
          <p:cNvSpPr txBox="1"/>
          <p:nvPr/>
        </p:nvSpPr>
        <p:spPr>
          <a:xfrm>
            <a:off x="4403507" y="483932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中央氣象署地震測報中心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1415EEA-A07C-4484-A4C1-7109B6CBA3E0}"/>
              </a:ext>
            </a:extLst>
          </p:cNvPr>
          <p:cNvSpPr txBox="1"/>
          <p:nvPr/>
        </p:nvSpPr>
        <p:spPr>
          <a:xfrm>
            <a:off x="3609218" y="5673528"/>
            <a:ext cx="5158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2026.03.17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@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農業部農村發展及水土保持組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30ECFC6-F86D-C488-2079-025BD6821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709" y="587864"/>
            <a:ext cx="3895029" cy="74654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B9CBB25-42D7-A575-A8A8-042E8F020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580" y="522212"/>
            <a:ext cx="3214300" cy="74654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46283C0-9D1A-54FC-CA20-4B6411571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52" y="3761428"/>
            <a:ext cx="2816400" cy="143452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23CF7AD-FC48-52A2-3781-7F82A1E12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456" y="1007498"/>
            <a:ext cx="1368152" cy="112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1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529F6C1B-2F8C-5DFB-0427-E7EB335066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自我介紹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7A6A4A-4B1E-57FE-C2BA-1D4AAAD08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977" y="284648"/>
            <a:ext cx="4478498" cy="28393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F688B2A-C2C1-2D3D-BA74-2312735D2A52}"/>
              </a:ext>
            </a:extLst>
          </p:cNvPr>
          <p:cNvSpPr txBox="1"/>
          <p:nvPr/>
        </p:nvSpPr>
        <p:spPr>
          <a:xfrm>
            <a:off x="187096" y="1119681"/>
            <a:ext cx="6628984" cy="4992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TW" altLang="zh-TW" sz="1800" b="1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學歷</a:t>
            </a:r>
            <a:endParaRPr lang="en-US" altLang="zh-TW" sz="1800" b="1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1998-2003 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學士，私立東吳大學物理學系</a:t>
            </a:r>
            <a:endParaRPr lang="zh-TW" altLang="zh-TW" sz="1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2003-2005 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碩士，國立台灣海洋大學應用地球科學研究所</a:t>
            </a:r>
            <a:endParaRPr lang="zh-TW" altLang="zh-TW" sz="1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2010-2015 </a:t>
            </a:r>
            <a:r>
              <a:rPr lang="zh-TW" altLang="zh-TW" sz="1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博士，國立台灣大學地質科學研究所</a:t>
            </a:r>
            <a:endParaRPr lang="en-US" altLang="zh-TW" sz="1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zh-TW" altLang="zh-TW" sz="18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經歷</a:t>
            </a:r>
            <a:endParaRPr lang="zh-TW" altLang="zh-TW" sz="1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2006/10 ~ 2020/07 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技佐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、技士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，中央氣象局地震測報中心</a:t>
            </a:r>
          </a:p>
          <a:p>
            <a:pPr algn="just">
              <a:lnSpc>
                <a:spcPct val="200000"/>
              </a:lnSpc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2020/07 ~ 2023/09 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課長，中央氣象局地震測報中心</a:t>
            </a:r>
            <a:endParaRPr lang="en-US" altLang="zh-TW" sz="1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2018/09 ~  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至今      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兼任助理教授，臺北市立大學地生系</a:t>
            </a:r>
            <a:endParaRPr lang="en-US" altLang="zh-TW" sz="1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2023/09 ~  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至今      科長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，中央氣象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署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地震測報中心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C8A50F3-60E1-3830-6544-57CA34971BD1}"/>
              </a:ext>
            </a:extLst>
          </p:cNvPr>
          <p:cNvSpPr txBox="1"/>
          <p:nvPr/>
        </p:nvSpPr>
        <p:spPr>
          <a:xfrm>
            <a:off x="839416" y="745542"/>
            <a:ext cx="4680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中央氣象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署</a:t>
            </a:r>
            <a:r>
              <a:rPr lang="zh-TW" altLang="zh-TW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地震測報中心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陳達毅  科長</a:t>
            </a:r>
            <a:endParaRPr lang="zh-TW" altLang="en-US" dirty="0"/>
          </a:p>
        </p:txBody>
      </p:sp>
      <p:pic>
        <p:nvPicPr>
          <p:cNvPr id="13" name="圖片 115">
            <a:extLst>
              <a:ext uri="{FF2B5EF4-FFF2-40B4-BE49-F238E27FC236}">
                <a16:creationId xmlns:a16="http://schemas.microsoft.com/office/drawing/2014/main" id="{39F62BFE-2448-D046-A516-5E4132D3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824" y="3313630"/>
            <a:ext cx="5632804" cy="2808312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2238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9AB4630-1F61-FFDB-7783-E27259EC9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574" y="116632"/>
            <a:ext cx="7158506" cy="20395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6F365DC-C66C-0214-EFB0-8B408E678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917" y="5930355"/>
            <a:ext cx="1592264" cy="81101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874EA3E-8A4E-387B-29A5-58F4550BD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336" y="6061069"/>
            <a:ext cx="2814106" cy="53937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3EB7345-6723-A1D7-72C5-C4DCB5286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2646" y="974739"/>
            <a:ext cx="2009708" cy="46677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C75B702-0C9F-2ABD-C122-93D0F4F848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1259" y="5959756"/>
            <a:ext cx="864096" cy="710857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75F79EE-8FC2-B677-41B8-318EA6E1EC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681" y="1153164"/>
            <a:ext cx="1730074" cy="576692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166012DF-B55E-DE40-5A87-B2462F3A81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2439" y="6315561"/>
            <a:ext cx="2119214" cy="35505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3374B48-02F6-AEF3-8459-E22C27E8E0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8113" y="1693827"/>
            <a:ext cx="1035850" cy="415448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B9BB0AE2-4C80-EFF6-8E1E-A55BAABC36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700" y="2270519"/>
            <a:ext cx="11212600" cy="3627606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5B1E5698-2C06-B9C2-4468-CB6C44272B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10" y="5981265"/>
            <a:ext cx="1351358" cy="34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1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59FD5A1-3239-26D3-767E-ED566232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667"/>
          <a:stretch/>
        </p:blipFill>
        <p:spPr>
          <a:xfrm>
            <a:off x="4367808" y="188640"/>
            <a:ext cx="3842248" cy="51771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1CA1E9B6-E526-E1EC-FBC9-1B6F554AB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974996"/>
            <a:ext cx="5033892" cy="2671917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D796917-36F6-85D2-95C2-3EC5F612F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60" y="3646913"/>
            <a:ext cx="5033892" cy="3200427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4839C3D8-3004-D487-2C9A-A267DC2F0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916832"/>
            <a:ext cx="5243971" cy="4006123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EB3E9CD2-5273-7E8B-05A3-14A4D4AC1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667"/>
          <a:stretch/>
        </p:blipFill>
        <p:spPr>
          <a:xfrm>
            <a:off x="7824192" y="700210"/>
            <a:ext cx="3842248" cy="51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97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4E9D94E-395D-F6E9-4C69-B32E4497E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523" y="548680"/>
            <a:ext cx="3962953" cy="57158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39EAFC7-F49F-0B22-458A-2F421F606509}"/>
              </a:ext>
            </a:extLst>
          </p:cNvPr>
          <p:cNvSpPr txBox="1"/>
          <p:nvPr/>
        </p:nvSpPr>
        <p:spPr>
          <a:xfrm>
            <a:off x="2999656" y="1340768"/>
            <a:ext cx="6791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solidFill>
                  <a:srgbClr val="475569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剛才提到的所有基礎設施與工具，皆提供</a:t>
            </a:r>
            <a:r>
              <a:rPr lang="zh-TW" altLang="en-US" b="1" i="0" dirty="0">
                <a:solidFill>
                  <a:srgbClr val="0F766E"/>
                </a:solidFill>
                <a:effectLst/>
                <a:latin typeface="Noto Sans TC" panose="020B0200000000000000" pitchFamily="34" charset="-120"/>
                <a:ea typeface="Noto Sans TC" panose="020B0200000000000000" pitchFamily="34" charset="-120"/>
              </a:rPr>
              <a:t>免費額度或開源方案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14FADFC-4195-F60E-F2EB-2E2F86F04C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2" t="11739" r="6418" b="8950"/>
          <a:stretch/>
        </p:blipFill>
        <p:spPr>
          <a:xfrm>
            <a:off x="479376" y="2492896"/>
            <a:ext cx="11529322" cy="34663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23059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48AEEB9-F09C-5260-4445-26DA49054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3" y="188640"/>
            <a:ext cx="12094994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53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DFE6E72-D575-927B-400D-AB0AF95D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E7407-9898-4DB7-A69C-344612D44801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317298E-7A88-312C-D1F4-C2499BBD9A57}"/>
              </a:ext>
            </a:extLst>
          </p:cNvPr>
          <p:cNvSpPr txBox="1"/>
          <p:nvPr/>
        </p:nvSpPr>
        <p:spPr>
          <a:xfrm>
            <a:off x="911424" y="332329"/>
            <a:ext cx="823609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rgbClr val="1E293B"/>
                </a:solidFill>
                <a:effectLst/>
              </a:rPr>
              <a:t>認識我們的武器庫</a:t>
            </a:r>
          </a:p>
          <a:p>
            <a:r>
              <a:rPr lang="zh-TW" altLang="en-US" b="0" dirty="0">
                <a:solidFill>
                  <a:srgbClr val="475569"/>
                </a:solidFill>
                <a:effectLst/>
              </a:rPr>
              <a:t>接下來，我們來拆解這套系統的武器庫。首先是資料保存與展示的地方：大家熟悉的 </a:t>
            </a:r>
            <a:r>
              <a:rPr lang="en-US" altLang="zh-TW" b="1" dirty="0">
                <a:solidFill>
                  <a:srgbClr val="1E293B"/>
                </a:solidFill>
                <a:effectLst/>
              </a:rPr>
              <a:t>GitHub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 可以幫我們做版本控制，甚至透過 </a:t>
            </a:r>
            <a:r>
              <a:rPr lang="en-US" altLang="zh-TW" b="0" dirty="0">
                <a:solidFill>
                  <a:srgbClr val="475569"/>
                </a:solidFill>
                <a:effectLst/>
              </a:rPr>
              <a:t>GitHub Pages 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展示前端網頁；而 </a:t>
            </a:r>
            <a:r>
              <a:rPr lang="en-US" altLang="zh-TW" b="1" dirty="0">
                <a:solidFill>
                  <a:srgbClr val="1E293B"/>
                </a:solidFill>
                <a:effectLst/>
              </a:rPr>
              <a:t>Hugging Face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 不僅僅是 </a:t>
            </a:r>
            <a:r>
              <a:rPr lang="en-US" altLang="zh-TW" b="0" dirty="0">
                <a:solidFill>
                  <a:srgbClr val="475569"/>
                </a:solidFill>
                <a:effectLst/>
              </a:rPr>
              <a:t>AI 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模型的集散地，它提供的 </a:t>
            </a:r>
            <a:r>
              <a:rPr lang="en-US" altLang="zh-TW" b="0" dirty="0">
                <a:solidFill>
                  <a:srgbClr val="475569"/>
                </a:solidFill>
                <a:effectLst/>
              </a:rPr>
              <a:t>Spaces 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功能非常適合用來託管我們的後端 </a:t>
            </a:r>
            <a:r>
              <a:rPr lang="en-US" altLang="zh-TW" b="0" dirty="0">
                <a:solidFill>
                  <a:srgbClr val="475569"/>
                </a:solidFill>
                <a:effectLst/>
              </a:rPr>
              <a:t>API 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或微型資料庫，穩定且易於部署。</a:t>
            </a:r>
          </a:p>
          <a:p>
            <a:r>
              <a:rPr lang="en-US" altLang="zh-TW" b="1" dirty="0">
                <a:solidFill>
                  <a:srgbClr val="1E293B"/>
                </a:solidFill>
                <a:effectLst/>
              </a:rPr>
              <a:t>GitHub</a:t>
            </a:r>
          </a:p>
          <a:p>
            <a:r>
              <a:rPr lang="zh-TW" altLang="en-US" dirty="0">
                <a:solidFill>
                  <a:srgbClr val="475569"/>
                </a:solidFill>
                <a:effectLst/>
              </a:rPr>
              <a:t>版本控制與靜態網頁代管，確保程式碼的安全與前端介面的展示。</a:t>
            </a:r>
          </a:p>
          <a:p>
            <a:r>
              <a:rPr lang="en-US" altLang="zh-TW" b="1" dirty="0">
                <a:solidFill>
                  <a:srgbClr val="1E293B"/>
                </a:solidFill>
                <a:effectLst/>
              </a:rPr>
              <a:t>Hugging Face</a:t>
            </a:r>
          </a:p>
          <a:p>
            <a:r>
              <a:rPr lang="en-US" altLang="zh-TW" dirty="0">
                <a:solidFill>
                  <a:srgbClr val="475569"/>
                </a:solidFill>
                <a:effectLst/>
              </a:rPr>
              <a:t>AI </a:t>
            </a:r>
            <a:r>
              <a:rPr lang="zh-TW" altLang="en-US" dirty="0">
                <a:solidFill>
                  <a:srgbClr val="475569"/>
                </a:solidFill>
                <a:effectLst/>
              </a:rPr>
              <a:t>模型存放區與強大的 </a:t>
            </a:r>
            <a:r>
              <a:rPr lang="en-US" altLang="zh-TW" dirty="0">
                <a:solidFill>
                  <a:srgbClr val="475569"/>
                </a:solidFill>
                <a:effectLst/>
              </a:rPr>
              <a:t>API </a:t>
            </a:r>
            <a:r>
              <a:rPr lang="zh-TW" altLang="en-US" dirty="0">
                <a:solidFill>
                  <a:srgbClr val="475569"/>
                </a:solidFill>
                <a:effectLst/>
              </a:rPr>
              <a:t>託管平台，適合部署後端與微型資料庫。</a:t>
            </a:r>
          </a:p>
          <a:p>
            <a:r>
              <a:rPr lang="zh-TW" altLang="en-US" b="1" dirty="0">
                <a:solidFill>
                  <a:srgbClr val="1E293B"/>
                </a:solidFill>
                <a:effectLst/>
              </a:rPr>
              <a:t>認識我們的武器庫 </a:t>
            </a:r>
            <a:r>
              <a:rPr lang="en-US" altLang="zh-TW" b="1" dirty="0">
                <a:solidFill>
                  <a:srgbClr val="1E293B"/>
                </a:solidFill>
                <a:effectLst/>
              </a:rPr>
              <a:t>(</a:t>
            </a:r>
            <a:r>
              <a:rPr lang="zh-TW" altLang="en-US" b="1" dirty="0">
                <a:solidFill>
                  <a:srgbClr val="1E293B"/>
                </a:solidFill>
                <a:effectLst/>
              </a:rPr>
              <a:t>續</a:t>
            </a:r>
            <a:r>
              <a:rPr lang="en-US" altLang="zh-TW" b="1" dirty="0">
                <a:solidFill>
                  <a:srgbClr val="1E293B"/>
                </a:solidFill>
                <a:effectLst/>
              </a:rPr>
              <a:t>)</a:t>
            </a:r>
          </a:p>
          <a:p>
            <a:r>
              <a:rPr lang="zh-TW" altLang="en-US" b="0" dirty="0">
                <a:solidFill>
                  <a:srgbClr val="475569"/>
                </a:solidFill>
                <a:effectLst/>
              </a:rPr>
              <a:t>再來是今天的兩位主角。</a:t>
            </a:r>
            <a:r>
              <a:rPr lang="en-US" altLang="zh-TW" b="1" dirty="0">
                <a:solidFill>
                  <a:srgbClr val="1E293B"/>
                </a:solidFill>
                <a:effectLst/>
              </a:rPr>
              <a:t>Antigravity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 是一個自動化開發工具，你只要告訴它你想做什麼，它就能幫你生成架構與程式碼；而 </a:t>
            </a:r>
            <a:r>
              <a:rPr lang="en-US" altLang="zh-TW" b="1" dirty="0" err="1">
                <a:solidFill>
                  <a:srgbClr val="1E293B"/>
                </a:solidFill>
                <a:effectLst/>
              </a:rPr>
              <a:t>Openclaw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 則像是一個超強的客服兼資料處理員，它可以輕鬆串接 </a:t>
            </a:r>
            <a:r>
              <a:rPr lang="en-US" altLang="zh-TW" b="0" dirty="0">
                <a:solidFill>
                  <a:srgbClr val="475569"/>
                </a:solidFill>
                <a:effectLst/>
              </a:rPr>
              <a:t>LINE 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或 </a:t>
            </a:r>
            <a:r>
              <a:rPr lang="en-US" altLang="zh-TW" b="0" dirty="0">
                <a:solidFill>
                  <a:srgbClr val="475569"/>
                </a:solidFill>
                <a:effectLst/>
              </a:rPr>
              <a:t>Telegram</a:t>
            </a:r>
            <a:r>
              <a:rPr lang="zh-TW" altLang="en-US" b="0" dirty="0">
                <a:solidFill>
                  <a:srgbClr val="475569"/>
                </a:solidFill>
                <a:effectLst/>
              </a:rPr>
              <a:t>，作為第一線人員的操作介面。</a:t>
            </a:r>
          </a:p>
          <a:p>
            <a:r>
              <a:rPr lang="en-US" altLang="zh-TW" b="1" dirty="0">
                <a:solidFill>
                  <a:srgbClr val="1E293B"/>
                </a:solidFill>
                <a:effectLst/>
              </a:rPr>
              <a:t>Antigravity</a:t>
            </a:r>
          </a:p>
          <a:p>
            <a:r>
              <a:rPr lang="zh-TW" altLang="en-US" dirty="0">
                <a:solidFill>
                  <a:srgbClr val="475569"/>
                </a:solidFill>
                <a:effectLst/>
              </a:rPr>
              <a:t>自動生成程式碼的強大引擎，專注於開發流程自動化。</a:t>
            </a:r>
          </a:p>
          <a:p>
            <a:r>
              <a:rPr lang="en-US" altLang="zh-TW" b="1" dirty="0" err="1">
                <a:solidFill>
                  <a:srgbClr val="1E293B"/>
                </a:solidFill>
                <a:effectLst/>
              </a:rPr>
              <a:t>Openclaw</a:t>
            </a:r>
            <a:endParaRPr lang="en-US" altLang="zh-TW" b="1" dirty="0">
              <a:solidFill>
                <a:srgbClr val="1E293B"/>
              </a:solidFill>
              <a:effectLst/>
            </a:endParaRPr>
          </a:p>
          <a:p>
            <a:r>
              <a:rPr lang="zh-TW" altLang="en-US" dirty="0">
                <a:solidFill>
                  <a:srgbClr val="475569"/>
                </a:solidFill>
                <a:effectLst/>
              </a:rPr>
              <a:t>智慧助手，擅長串接通訊軟體與即時訊息處理，擔綱第一線操作介面。</a:t>
            </a:r>
          </a:p>
        </p:txBody>
      </p:sp>
    </p:spTree>
    <p:extLst>
      <p:ext uri="{BB962C8B-B14F-4D97-AF65-F5344CB8AC3E}">
        <p14:creationId xmlns:p14="http://schemas.microsoft.com/office/powerpoint/2010/main" val="55077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3606B4-8A70-E94B-9A2F-8AB24391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E7407-9898-4DB7-A69C-344612D4480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67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F7E96F7-56AA-4F89-976C-0C9AB29D1203}"/>
              </a:ext>
            </a:extLst>
          </p:cNvPr>
          <p:cNvSpPr txBox="1">
            <a:spLocks/>
          </p:cNvSpPr>
          <p:nvPr/>
        </p:nvSpPr>
        <p:spPr>
          <a:xfrm>
            <a:off x="837104" y="11663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zh-TW" altLang="en-US" sz="2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en-US" altLang="zh-TW" sz="32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zh-TW" altLang="en-US" sz="3200" b="1" dirty="0">
              <a:solidFill>
                <a:srgbClr val="1F4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3366176-1C3C-4C78-B9CE-04D847F7F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47585"/>
            <a:ext cx="12192000" cy="3778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 marL="255588" indent="-255588">
              <a:lnSpc>
                <a:spcPct val="93000"/>
              </a:lnSpc>
              <a:spcBef>
                <a:spcPts val="142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>
              <a:lnSpc>
                <a:spcPct val="93000"/>
              </a:lnSpc>
              <a:spcBef>
                <a:spcPts val="11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400">
                <a:solidFill>
                  <a:srgbClr val="00863D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>
              <a:lnSpc>
                <a:spcPct val="93000"/>
              </a:lnSpc>
              <a:spcBef>
                <a:spcPts val="8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>
              <a:lnSpc>
                <a:spcPct val="93000"/>
              </a:lnSpc>
              <a:spcBef>
                <a:spcPts val="57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>
              <a:lnSpc>
                <a:spcPct val="93000"/>
              </a:lnSpc>
              <a:spcBef>
                <a:spcPts val="2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ts val="2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55588" algn="l"/>
                <a:tab pos="703263" algn="l"/>
                <a:tab pos="1152525" algn="l"/>
                <a:tab pos="1601788" algn="l"/>
                <a:tab pos="2051050" algn="l"/>
                <a:tab pos="2500313" algn="l"/>
                <a:tab pos="2949575" algn="l"/>
                <a:tab pos="3398838" algn="l"/>
                <a:tab pos="3848100" algn="l"/>
                <a:tab pos="4297363" algn="l"/>
                <a:tab pos="4746625" algn="l"/>
                <a:tab pos="5195888" algn="l"/>
                <a:tab pos="5645150" algn="l"/>
                <a:tab pos="6094413" algn="l"/>
                <a:tab pos="6543675" algn="l"/>
                <a:tab pos="6992938" algn="l"/>
                <a:tab pos="7442200" algn="l"/>
                <a:tab pos="7891463" algn="l"/>
                <a:tab pos="8340725" algn="l"/>
                <a:tab pos="8789988" algn="l"/>
                <a:tab pos="92392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285750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8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Taiwan Earthquake Monitoring System</a:t>
            </a:r>
          </a:p>
          <a:p>
            <a:pPr marL="487362" lvl="1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Automates earthquake catalog creation and reduces manual effort.</a:t>
            </a:r>
          </a:p>
          <a:p>
            <a:pPr marL="487362" lvl="1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us understand the latest earthquake activity trends.</a:t>
            </a:r>
          </a:p>
          <a:p>
            <a:pPr marL="285750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8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Virtual Seismologist (VS)</a:t>
            </a:r>
          </a:p>
          <a:p>
            <a:pPr marL="487362" lvl="1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early-stage magnitude estimates were slightly low, it reached M6.0 by 9 seconds, suggesting that magnitude correction strategies could be considered.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800" b="1" dirty="0" err="1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FinDer</a:t>
            </a:r>
            <a:r>
              <a:rPr lang="en-US" altLang="zh-TW" sz="1800" b="1" dirty="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</a:rPr>
              <a:t> System</a:t>
            </a:r>
          </a:p>
          <a:p>
            <a:pPr marL="487362" lvl="1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FinDer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provided accurate estimates of both the centroid and magnitude. Only one county missed an alert, demonstrating good coverage.</a:t>
            </a:r>
          </a:p>
          <a:p>
            <a:pPr marL="487362" lvl="1" indent="-285750" algn="just">
              <a:lnSpc>
                <a:spcPct val="150000"/>
              </a:lnSpc>
              <a:spcBef>
                <a:spcPts val="250"/>
              </a:spcBef>
              <a:buSzPct val="74000"/>
              <a:buFont typeface="Wingdings" panose="05000000000000000000" pitchFamily="2" charset="2"/>
              <a:buChar char="l"/>
            </a:pP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alert issuance time was faster than VS and close to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eBEAR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offering strong complementarity with point-source models.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91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F48618-8A99-5BD7-D74A-7D76E6587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14" y="0"/>
            <a:ext cx="10517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231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B707447-E5EB-E127-CBEE-0FC09BA80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54" y="0"/>
            <a:ext cx="10274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1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2609487-8D6D-E3B7-FCC9-3C9532B8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571101"/>
            <a:ext cx="11412543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07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363548D-BE1F-E920-66ED-B9D8F94F4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118600"/>
            <a:ext cx="11317279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57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CCD9433-D09C-CA63-5C73-E71E2ADD1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1247470"/>
            <a:ext cx="10421804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30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7048F00-D8CE-CA0F-B65F-DAA6606A3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86" y="0"/>
            <a:ext cx="102676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4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516B04B-A804-D3F7-04CD-3C8093B6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1919077"/>
            <a:ext cx="7668695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7DA6123-CAF8-CB8F-388C-83B759C63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1252233"/>
            <a:ext cx="11317279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64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94497E1-0E9D-924B-29AD-EDD9D1360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1014075"/>
            <a:ext cx="8459381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63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9A02F37-771B-D56B-1AF9-C4C648E35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555"/>
            <a:ext cx="12192000" cy="642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65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53DAAB6-58F5-D2D8-F338-E4DB6FC16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64" y="0"/>
            <a:ext cx="5346506" cy="6858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A71AB06-0045-0180-5CF7-BBAB9A39D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675" y="775917"/>
            <a:ext cx="6268325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72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103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38365BD-A9BC-5193-A4C9-1393FCE8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369"/>
            <a:ext cx="12192000" cy="606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26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8444FC4-00BE-6548-49C4-0597002BB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048" y="2719288"/>
            <a:ext cx="6477904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2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2B7E988-12CC-3181-25D0-CCB00D533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679" y="742575"/>
            <a:ext cx="6382641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39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FC8FD24-BFE9-27D5-F938-5FA47475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300"/>
            <a:ext cx="12192000" cy="59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50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F9848AA-15C5-137D-C7BF-3BDD7BAEC978}"/>
              </a:ext>
            </a:extLst>
          </p:cNvPr>
          <p:cNvSpPr txBox="1"/>
          <p:nvPr/>
        </p:nvSpPr>
        <p:spPr>
          <a:xfrm>
            <a:off x="4273061" y="342872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solidFill>
                  <a:srgbClr val="A31515"/>
                </a:solidFill>
                <a:effectLst/>
                <a:latin typeface="ui-monospace"/>
              </a:rPr>
              <a:t>https://cwbdayi-disaster-fastapi.hf.space/api/reports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0756E7D-78F8-4242-23DF-1BE748D8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4635"/>
            <a:ext cx="12192000" cy="410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428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20159</TotalTime>
  <Words>567</Words>
  <Application>Microsoft Office PowerPoint</Application>
  <PresentationFormat>寬螢幕</PresentationFormat>
  <Paragraphs>48</Paragraphs>
  <Slides>27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Noto Sans TC</vt:lpstr>
      <vt:lpstr>ui-monospace</vt:lpstr>
      <vt:lpstr>微軟正黑體</vt:lpstr>
      <vt:lpstr>Arial</vt:lpstr>
      <vt:lpstr>Calibri</vt:lpstr>
      <vt:lpstr>Times New Roman</vt:lpstr>
      <vt:lpstr>Wingdings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交通部中央氣象局 業務簡報</dc:title>
  <dc:creator>ytcsth</dc:creator>
  <cp:lastModifiedBy>陳達毅</cp:lastModifiedBy>
  <cp:revision>1518</cp:revision>
  <cp:lastPrinted>2025-03-27T06:09:09Z</cp:lastPrinted>
  <dcterms:created xsi:type="dcterms:W3CDTF">2014-03-04T05:56:28Z</dcterms:created>
  <dcterms:modified xsi:type="dcterms:W3CDTF">2026-03-16T11:26:34Z</dcterms:modified>
</cp:coreProperties>
</file>